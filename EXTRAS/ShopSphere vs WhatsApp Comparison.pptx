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</ns0:sldIdLst>
  <ns0:sldSz cx="12192000" cy="6858000" type="screen4x3"/>
  <ns0:notesSz cx="6858000" cy="9144000"/>
  <ns0:embeddedFontLst>
    <ns0:embeddedFont>
      <ns0:font typeface="Space Grotesk"/>
      <ns0:bold ns1:id="rIdFont12"/>
    </ns0:embeddedFont>
    <ns0:embeddedFont>
      <ns0:font typeface="Inter"/>
      <ns0:bold ns1:id="rIdFont13"/>
      <ns0:regular ns1:id="rIdFont1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Font12" Type="http://schemas.openxmlformats.org/officeDocument/2006/relationships/font" Target="fonts/a8a89cbb-2d5e-420e-afa0-cd5fac3549b2.fntdata" /><ns0:Relationship Id="rIdFont13" Type="http://schemas.openxmlformats.org/officeDocument/2006/relationships/font" Target="fonts/27338fd6-92d5-4895-bb71-367aa2ac25d3.fntdata" /><ns0:Relationship Id="rIdFont14" Type="http://schemas.openxmlformats.org/officeDocument/2006/relationships/font" Target="fonts/24874890-3773-41c8-ac6f-050d41b23c3e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039469"/>
            <a:ext cx="6096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80282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59E0B"/>
                </a:solidFill>
                <a:latin typeface="Space Grotesk"/>
              </a:rPr>
              <a:t>CAMPUS COMMERCE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132707"/>
            <a:ext cx="8601075" cy="1839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FFFFF"/>
                </a:solidFill>
                <a:latin typeface="Space Grotesk"/>
              </a:rPr>
              <a:t>Why WhatsApp Fails Campus Trade &amp; How ShopSphere Solves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201269"/>
            <a:ext cx="6191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Inter"/>
              </a:rPr>
              <a:t>A dedicated breakdown of buyer and seller bottlenecks on chat groups versus tailored marketplace solutions.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90650"/>
            <a:ext cx="5334000" cy="5010150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390650"/>
            <a:ext cx="5334000" cy="5010150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9525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" y="5705475"/>
            <a:ext cx="4705350" cy="38100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62725" y="5705475"/>
            <a:ext cx="4705350" cy="38100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704975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1704975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800225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0" y="1800225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2333625"/>
            <a:ext cx="1524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925" y="3076575"/>
            <a:ext cx="1905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925" y="3819525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2725" y="2333625"/>
            <a:ext cx="1905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2725" y="3076575"/>
            <a:ext cx="1905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2725" y="3819525"/>
            <a:ext cx="15240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Space Grotesk"/>
              </a:rPr>
              <a:t>CUSTOMER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The Buyer Dilemma: WhatsApp Chaos vs. ShopSphere Clarity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6325" y="5819775"/>
            <a:ext cx="5500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91B1B"/>
                </a:solidFill>
                <a:latin typeface="Inter"/>
              </a:rPr>
              <a:t>Result: Frustrated buyers leave chat groups quickly to reduce noise.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5125" y="5819775"/>
            <a:ext cx="5476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65F46"/>
                </a:solidFill>
                <a:latin typeface="Inter"/>
              </a:rPr>
              <a:t>Result: Clean, high-intent shopping experience tailored to campus buyers.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9225" y="1771650"/>
            <a:ext cx="388798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91B1B"/>
                </a:solidFill>
                <a:latin typeface="Space Grotesk"/>
              </a:rPr>
              <a:t>WhatsApp Group Disadvantages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8025" y="1771650"/>
            <a:ext cx="47005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65F46"/>
                </a:solidFill>
                <a:latin typeface="Space Grotesk"/>
              </a:rPr>
              <a:t>ShopSphere Web Platform Advantages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" y="2314575"/>
            <a:ext cx="5881687" cy="190500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Disk Space Cluttered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925" y="2543175"/>
            <a:ext cx="48006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Auto-downloaded product photos constantly fill local phone storage with unwanted media.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925" y="3057525"/>
            <a:ext cx="5881687" cy="190500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Unwanted Group Invites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925" y="3286125"/>
            <a:ext cx="48006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Forced into countless noisy group chats, resulting in notification fatigue and privacy exposure.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925" y="3800475"/>
            <a:ext cx="5881687" cy="190500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Impossible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925" y="4029075"/>
            <a:ext cx="48006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Finding specific items requires endless scrolling through hundreds of unrelated chat messages.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2725" y="2314575"/>
            <a:ext cx="5629275" cy="190500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Zero Local Disk 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2725" y="2543175"/>
            <a:ext cx="48006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All images hosted on cloud servers; browse seamlessly on web without taking phone storage.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2725" y="3057525"/>
            <a:ext cx="5629275" cy="190500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Spam-Free Browsing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2725" y="3286125"/>
            <a:ext cx="48006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Visit the marketplace on-demand without joining group chats or receiving broadcast spam.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2725" y="3800475"/>
            <a:ext cx="5629275" cy="190500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Instant Category Search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2725" y="4029075"/>
            <a:ext cx="56292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Filter products by campus location, price, and category in seconds.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90650"/>
            <a:ext cx="5334000" cy="5010150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390650"/>
            <a:ext cx="5334000" cy="5010150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9525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" y="5705475"/>
            <a:ext cx="4705350" cy="38100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62725" y="5705475"/>
            <a:ext cx="4705350" cy="38100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704975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1704975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800225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687" y="1800225"/>
            <a:ext cx="2190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2333625"/>
            <a:ext cx="1524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925" y="3076575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925" y="3819525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2725" y="2333625"/>
            <a:ext cx="1714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2725" y="3076575"/>
            <a:ext cx="1905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2725" y="3819525"/>
            <a:ext cx="15240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Space Grotesk"/>
              </a:rPr>
              <a:t>MERCHANT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The Seller Bottleneck: WhatsApp Chaos vs. ShopSphere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6325" y="5819775"/>
            <a:ext cx="5500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91B1B"/>
                </a:solidFill>
                <a:latin typeface="Inter"/>
              </a:rPr>
              <a:t>Result: Unscalable manual labor with low sales conversion.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5125" y="5819775"/>
            <a:ext cx="5476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65F46"/>
                </a:solidFill>
                <a:latin typeface="Inter"/>
              </a:rPr>
              <a:t>Result: Automated operations that help student entrepreneurs scale faster.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9225" y="1771650"/>
            <a:ext cx="396299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91B1B"/>
                </a:solidFill>
                <a:latin typeface="Space Grotesk"/>
              </a:rPr>
              <a:t>WhatsApp Selling Disadvantages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8025" y="1771650"/>
            <a:ext cx="373796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65F46"/>
                </a:solidFill>
                <a:latin typeface="Space Grotesk"/>
              </a:rPr>
              <a:t>ShopSphere Seller Advantages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" y="2314575"/>
            <a:ext cx="5881687" cy="190500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Repetitive Photo Re-uploads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925" y="2543175"/>
            <a:ext cx="48006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Sellers must constantly re-post the same photos daily to stay visible as old posts drift up.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925" y="3057525"/>
            <a:ext cx="5881687" cy="190500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Scattered &amp; Unorganized Listings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925" y="3286125"/>
            <a:ext cx="48006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No permanent catalog; products get buried under other group members' messages.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925" y="3800475"/>
            <a:ext cx="5881687" cy="190500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Zero Order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925" y="4029075"/>
            <a:ext cx="48006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Managing payments, buyer queries, and pending deliveries in DMs causes lost orders.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2725" y="2314575"/>
            <a:ext cx="5629275" cy="190500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Persistent Digital Storefront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2725" y="2543175"/>
            <a:ext cx="48006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Upload items once to a clean, shareable storefront link that stays organized 24/7.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2725" y="3057525"/>
            <a:ext cx="5629275" cy="190500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Dedicated Order Management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2725" y="3286125"/>
            <a:ext cx="48006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Track active orders, pending pickups, and payment statuses directly from a dashboard.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2725" y="3800475"/>
            <a:ext cx="5629275" cy="190500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Verified Campus Reputation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2725" y="4029075"/>
            <a:ext cx="48006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Build lasting student trust through campus badges and platform moderation.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62275"/>
            <a:ext cx="3479750" cy="18669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2962275"/>
            <a:ext cx="3479750" cy="18669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2962275"/>
            <a:ext cx="3479750" cy="18669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238500"/>
            <a:ext cx="33337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275" y="3238500"/>
            <a:ext cx="3048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8725" y="3238500"/>
            <a:ext cx="33337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Space Grotesk"/>
              </a:rPr>
              <a:t>TRUST &amp; ACCOUNTABILITY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Platform Moderation &amp; Trust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657600"/>
            <a:ext cx="38420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Active Community Moderators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952875"/>
            <a:ext cx="30225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Dedicated campus moderators rapidly handle policy violations, inappropriate behavior, and dispute resolution.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275" y="3657600"/>
            <a:ext cx="38420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Based Campus Sellers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275" y="3952875"/>
            <a:ext cx="30225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Sellers are verified against student profiles, establishing instant social accountability and peer trust.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8725" y="3657600"/>
            <a:ext cx="381327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Confrontation &amp;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8725" y="3952875"/>
            <a:ext cx="30225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Clear reporting channels prevent harassment, bad-faith deals, or unsupported marketplace behavior.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67400" y="4157662"/>
            <a:ext cx="4572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-288726" y="2662237"/>
            <a:ext cx="12769453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Space Grotesk"/>
              </a:rPr>
              <a:t>Ready to Replace Chat Chaos with ShopSphere?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395662"/>
            <a:ext cx="7143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Empower your campus community with structured commerce, built-in trust, and order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
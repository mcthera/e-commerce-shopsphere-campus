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26562f03-c9a7-413b-af4f-303f4220791e.fntdata" /><ns0:Relationship Id="rIdFont16" Type="http://schemas.openxmlformats.org/officeDocument/2006/relationships/font" Target="fonts/e21fda5d-8321-437a-bbdf-7774511f214c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21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4141440"/>
            <a:ext cx="2400300" cy="752475"/>
          </a:xfrm>
          <a:prstGeom prst="roundRect">
            <a:avLst>
              <a:gd name="adj" fmla="val 15189"/>
            </a:avLst>
          </a:prstGeom>
          <a:solidFill>
            <a:srgbClr val="C54242"/>
          </a:solidFill>
          <a:ln w="9525">
            <a:solidFill>
              <a:srgbClr val="C9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38500" y="4141440"/>
            <a:ext cx="2771775" cy="752475"/>
          </a:xfrm>
          <a:prstGeom prst="roundRect">
            <a:avLst>
              <a:gd name="adj" fmla="val 15189"/>
            </a:avLst>
          </a:prstGeom>
          <a:solidFill>
            <a:srgbClr val="C54242"/>
          </a:solidFill>
          <a:ln w="9525">
            <a:solidFill>
              <a:srgbClr val="C9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1964084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CA5A5"/>
                </a:solidFill>
                <a:latin typeface="Plus Jakarta Sans"/>
              </a:rPr>
              <a:t>CAMPUS PEER-TO-PEER E-COMMERCE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16509"/>
            <a:ext cx="11582400" cy="586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ShopSphere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131790"/>
            <a:ext cx="619125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FECACA"/>
                </a:solidFill>
                <a:latin typeface="Plus Jakarta Sans"/>
              </a:rPr>
              <a:t>Connecting students to buy and sell safely on campus. Meet up locally and pay on delivery.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4303365"/>
            <a:ext cx="2405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"/>
              </a:rPr>
              <a:t>Primary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4512915"/>
            <a:ext cx="2405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Hostels &amp; Student Halls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6625" y="4303365"/>
            <a:ext cx="286940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"/>
              </a:rPr>
              <a:t>Key Payment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6625" y="4512915"/>
            <a:ext cx="286940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Plus Jakarta Sans"/>
              </a:rPr>
              <a:t>Pay on Delivery / WhatsApp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name="adj" fmla="val 26086"/>
            </a:avLst>
          </a:prstGeom>
          <a:solidFill>
            <a:srgbClr val="FE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53300" y="2254448"/>
            <a:ext cx="42291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53300" y="3502223"/>
            <a:ext cx="42291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53300" y="4749998"/>
            <a:ext cx="4229100" cy="1057275"/>
          </a:xfrm>
          <a:prstGeom prst="roundRect">
            <a:avLst>
              <a:gd name="adj" fmla="val 1081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53300" y="2254448"/>
            <a:ext cx="38100" cy="1057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53300" y="3502223"/>
            <a:ext cx="38100" cy="1057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53300" y="4749998"/>
            <a:ext cx="38100" cy="105727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35360"/>
            <a:ext cx="6362700" cy="419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44885"/>
            <a:ext cx="6343650" cy="417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PLATFORM 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Student Market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324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An intuitive, vibrant landing page built specifically for student needs.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1900" y="2444948"/>
            <a:ext cx="461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Hostel Shopping Banner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1900" y="2721173"/>
            <a:ext cx="390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Direct promotions tailored for fans, kettles, bedding, and campus essentials.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1900" y="3692723"/>
            <a:ext cx="461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Trust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1900" y="3968948"/>
            <a:ext cx="390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Campus meetups, pay on delivery, and direct seller WhatsApp integration.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1900" y="4940498"/>
            <a:ext cx="46101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Category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1900" y="5216723"/>
            <a:ext cx="3905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Quick access to Electronics, Fashion, Home, Mobile, Beauty, Groceries, and Sports.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name="adj" fmla="val 26086"/>
            </a:avLst>
          </a:prstGeom>
          <a:solidFill>
            <a:srgbClr val="FE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661070"/>
            <a:ext cx="52959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3356520"/>
            <a:ext cx="52959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5051970"/>
            <a:ext cx="5295900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613" y="2032545"/>
            <a:ext cx="1933872" cy="419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0138" y="2042070"/>
            <a:ext cx="1914822" cy="4171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1889670"/>
            <a:ext cx="20002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3585120"/>
            <a:ext cx="2857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5280570"/>
            <a:ext cx="200025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MARKETPLACE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905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Mobile-First Product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324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Clear pricing, seller identity, and fast action triggers.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2232570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Transparent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2546895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Prominent currency displays (GHC) and category tags help students make quick purchasing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100" y="3928020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Seller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242345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Listings display exact seller names (e.g., Mensah Peter) to build peer trust across halls.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5623470"/>
            <a:ext cx="56769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293B"/>
                </a:solidFill>
                <a:latin typeface="Plus Jakarta Sans"/>
              </a:rPr>
              <a:t>Instant Communication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5937795"/>
            <a:ext cx="493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Direct 'WhatsApp' CTA button eliminates friction and allows real-time negotiation.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name="adj" fmla="val 26086"/>
            </a:avLst>
          </a:prstGeom>
          <a:solidFill>
            <a:srgbClr val="FE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96200" y="2321123"/>
            <a:ext cx="3886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96200" y="3511748"/>
            <a:ext cx="3886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96200" y="4702373"/>
            <a:ext cx="38862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745" y="2030610"/>
            <a:ext cx="1885354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2900" y="2030610"/>
            <a:ext cx="1885354" cy="400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USER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Seamless Onboarding &amp; Account 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2324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Student authentication tied directly to campus index credentials.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6700" y="2511623"/>
            <a:ext cx="4305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Campus Verified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6700" y="2768798"/>
            <a:ext cx="3600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Sign-in requires Index Numbers or student credentials to verify buyers and sellers.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6700" y="3702248"/>
            <a:ext cx="4305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Seller Quick 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6700" y="3959423"/>
            <a:ext cx="3600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Navigation drawer grants immediate access to "Sell an item" and "My store"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6700" y="4892873"/>
            <a:ext cx="4305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Role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700" y="5150048"/>
            <a:ext cx="3600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Built-in portals for standard student accounts and administrative moderation.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name="adj" fmla="val 26086"/>
            </a:avLst>
          </a:prstGeom>
          <a:solidFill>
            <a:srgbClr val="FE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335" y="2030610"/>
            <a:ext cx="1792039" cy="400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975" y="2030610"/>
            <a:ext cx="1900832" cy="400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407" y="2030610"/>
            <a:ext cx="1815256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860" y="2040135"/>
            <a:ext cx="1772989" cy="398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500" y="2040135"/>
            <a:ext cx="1881782" cy="398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2932" y="2040135"/>
            <a:ext cx="1796206" cy="398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SELLER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905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Dashboard &amp; Inventory Posting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2324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Empowering student entrepreneurs with lightweight store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0972800" cy="219075"/>
          </a:xfrm>
          <a:prstGeom prst="roundRect">
            <a:avLst>
              <a:gd name="adj" fmla="val 26086"/>
            </a:avLst>
          </a:prstGeom>
          <a:solidFill>
            <a:srgbClr val="FE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554485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3602235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86500" y="4649985"/>
            <a:ext cx="5295900" cy="85725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992" y="2030610"/>
            <a:ext cx="2009775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367" y="2030610"/>
            <a:ext cx="1869132" cy="400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7517" y="2040135"/>
            <a:ext cx="1990725" cy="398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5892" y="2040135"/>
            <a:ext cx="1850082" cy="398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" y="495300"/>
            <a:ext cx="10839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DC2626"/>
                </a:solidFill>
                <a:latin typeface="Plus Jakarta Sans"/>
              </a:rPr>
              <a:t>ORDER FULFILLMENT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90575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WhatsApp Order &amp; Campus Delivery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2445"/>
            <a:ext cx="11582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Plus Jakarta Sans"/>
              </a:rPr>
              <a:t>Frictionless checkout leveraging existing student communication channels.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274498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1. Flexible Cart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302121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Students adjust quantities and review total costs before committing.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79273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2. Location Capture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0" y="406896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Collects precise delivery locations (Hostel/Hall) and student details.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0" y="4840485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91B1B"/>
                </a:solidFill>
                <a:latin typeface="Plus Jakarta Sans"/>
              </a:rPr>
              <a:t>3. Instant Messaging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5116710"/>
            <a:ext cx="5715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Plus Jakarta Sans"/>
              </a:rPr>
              <a:t>Directly formats the order payload into a pre-filled WhatsApp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76900" y="1400175"/>
            <a:ext cx="838200" cy="219075"/>
          </a:xfrm>
          <a:prstGeom prst="roundRect">
            <a:avLst>
              <a:gd name="adj" fmla="val 26086"/>
            </a:avLst>
          </a:prstGeom>
          <a:solidFill>
            <a:srgbClr val="F9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33500" y="3267075"/>
            <a:ext cx="2971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610100" y="3267075"/>
            <a:ext cx="2971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886700" y="3267075"/>
            <a:ext cx="2971800" cy="219075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35814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35814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3581400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3675" y="3714750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0" y="3714750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3062" y="3714750"/>
            <a:ext cx="219075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48325" y="1438275"/>
            <a:ext cx="8953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DC2626"/>
                </a:solidFill>
                <a:latin typeface="Plus Jakarta Sans"/>
              </a:rPr>
              <a:t>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1882" y="1733550"/>
            <a:ext cx="588823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Plus Jakarta Sans"/>
              </a:rPr>
              <a:t>Why ShopSphere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4125" y="2371725"/>
            <a:ext cx="71437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Plus Jakarta Sans"/>
              </a:rPr>
              <a:t>Built specifically to solve trust, payment, and delivery challenges in campus environments.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695" y="4229100"/>
            <a:ext cx="327540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Zero Payment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681" y="4543425"/>
            <a:ext cx="311943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Pay-on-delivery via WhatsApp eliminates payment gateway setup and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8295" y="4229100"/>
            <a:ext cx="327540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Hyper-Local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6281" y="4543425"/>
            <a:ext cx="311943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hostel-to-hostel meetups ensure fast and secure item exchanges.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34895" y="4229100"/>
            <a:ext cx="327540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1E293B"/>
                </a:solidFill>
                <a:latin typeface="Plus Jakarta Sans"/>
              </a:rPr>
              <a:t>Micro-Merchant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2881" y="4543425"/>
            <a:ext cx="3119437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Empowers campus sellers with effortless store dashboards and item listing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1B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972050" y="3843337"/>
            <a:ext cx="2247900" cy="447675"/>
          </a:xfrm>
          <a:prstGeom prst="roundRect">
            <a:avLst>
              <a:gd name="adj" fmla="val 50000"/>
            </a:avLst>
          </a:prstGeom>
          <a:solidFill>
            <a:srgbClr val="A33232"/>
          </a:solidFill>
          <a:ln w="9525">
            <a:solidFill>
              <a:srgbClr val="AD49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70771" y="2566987"/>
            <a:ext cx="3650456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ShopSphere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36031" y="3300412"/>
            <a:ext cx="71199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ECACA"/>
                </a:solidFill>
                <a:latin typeface="Plus Jakarta Sans"/>
              </a:rPr>
              <a:t>Students buying and selling on campus. Meet up, pay on delivery.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36343" y="3967162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Plus Jakarta San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